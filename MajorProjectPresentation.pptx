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98" r:id="rId3"/>
    <p:sldId id="294" r:id="rId4"/>
    <p:sldId id="258" r:id="rId5"/>
    <p:sldId id="259" r:id="rId6"/>
    <p:sldId id="320" r:id="rId7"/>
    <p:sldId id="310" r:id="rId8"/>
    <p:sldId id="316" r:id="rId9"/>
    <p:sldId id="305" r:id="rId10"/>
    <p:sldId id="318" r:id="rId11"/>
    <p:sldId id="313" r:id="rId12"/>
    <p:sldId id="319" r:id="rId13"/>
    <p:sldId id="312" r:id="rId14"/>
    <p:sldId id="317" r:id="rId15"/>
    <p:sldId id="309" r:id="rId16"/>
    <p:sldId id="321" r:id="rId17"/>
    <p:sldId id="314" r:id="rId18"/>
    <p:sldId id="271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43F"/>
    <a:srgbClr val="EDF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Style>
        <a:tcBdr/>
        <a:fill>
          <a:solidFill>
            <a:srgbClr val="E8EBF5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893" autoAdjust="0"/>
    <p:restoredTop sz="95747" autoAdjust="0"/>
  </p:normalViewPr>
  <p:slideViewPr>
    <p:cSldViewPr snapToGrid="0" showGuides="1">
      <p:cViewPr varScale="1">
        <p:scale>
          <a:sx n="74" d="100"/>
          <a:sy n="74" d="100"/>
        </p:scale>
        <p:origin x="82" y="254"/>
      </p:cViewPr>
      <p:guideLst>
        <p:guide orient="horz" pos="2172"/>
        <p:guide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/>
          <p:nvPr/>
        </p:nvSpPr>
        <p:spPr>
          <a:xfrm>
            <a:off x="98852" y="86496"/>
            <a:ext cx="11998413" cy="6685007"/>
          </a:xfrm>
          <a:prstGeom prst="rect">
            <a:avLst/>
          </a:prstGeom>
          <a:ln w="28575">
            <a:solidFill>
              <a:srgbClr val="46B0F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4" name="Picture 2" descr="Picture 2"/>
          <p:cNvPicPr>
            <a:picLocks noChangeAspect="1"/>
          </p:cNvPicPr>
          <p:nvPr/>
        </p:nvPicPr>
        <p:blipFill>
          <a:blip r:embed="rId2"/>
          <a:srcRect t="12813" r="7453"/>
          <a:stretch>
            <a:fillRect/>
          </a:stretch>
        </p:blipFill>
        <p:spPr>
          <a:xfrm>
            <a:off x="10718089" y="127821"/>
            <a:ext cx="1336258" cy="540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35866" cy="333088"/>
          </a:xfrm>
          <a:prstGeom prst="rect">
            <a:avLst/>
          </a:prstGeom>
        </p:spPr>
        <p:txBody>
          <a:bodyPr anchor="t"/>
          <a:lstStyle>
            <a:lvl1pPr algn="l"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3"/>
          <p:cNvSpPr/>
          <p:nvPr/>
        </p:nvSpPr>
        <p:spPr>
          <a:xfrm>
            <a:off x="98852" y="86496"/>
            <a:ext cx="11998413" cy="6685007"/>
          </a:xfrm>
          <a:prstGeom prst="rect">
            <a:avLst/>
          </a:prstGeom>
          <a:ln w="28575">
            <a:solidFill>
              <a:srgbClr val="46B0F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2" name="Picture 2" descr="Picture 2"/>
          <p:cNvPicPr>
            <a:picLocks noChangeAspect="1"/>
          </p:cNvPicPr>
          <p:nvPr/>
        </p:nvPicPr>
        <p:blipFill>
          <a:blip r:embed="rId2"/>
          <a:srcRect t="12813" r="7453"/>
          <a:stretch>
            <a:fillRect/>
          </a:stretch>
        </p:blipFill>
        <p:spPr>
          <a:xfrm>
            <a:off x="10718089" y="127821"/>
            <a:ext cx="1336258" cy="540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35866" cy="333088"/>
          </a:xfrm>
          <a:prstGeom prst="rect">
            <a:avLst/>
          </a:prstGeom>
        </p:spPr>
        <p:txBody>
          <a:bodyPr anchor="t"/>
          <a:lstStyle>
            <a:lvl1pPr algn="l"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/>
          <p:nvPr/>
        </p:nvSpPr>
        <p:spPr>
          <a:xfrm>
            <a:off x="98852" y="86496"/>
            <a:ext cx="11998413" cy="6685007"/>
          </a:xfrm>
          <a:prstGeom prst="rect">
            <a:avLst/>
          </a:prstGeom>
          <a:ln w="28575">
            <a:solidFill>
              <a:srgbClr val="46B0F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" name="Picture 2" descr="Picture 2"/>
          <p:cNvPicPr>
            <a:picLocks noChangeAspect="1"/>
          </p:cNvPicPr>
          <p:nvPr/>
        </p:nvPicPr>
        <p:blipFill>
          <a:blip r:embed="rId4"/>
          <a:srcRect t="12813" r="7453"/>
          <a:stretch>
            <a:fillRect/>
          </a:stretch>
        </p:blipFill>
        <p:spPr>
          <a:xfrm>
            <a:off x="10718089" y="127821"/>
            <a:ext cx="1336258" cy="54077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2"/>
          <p:cNvSpPr/>
          <p:nvPr/>
        </p:nvSpPr>
        <p:spPr>
          <a:xfrm>
            <a:off x="568499" y="4336243"/>
            <a:ext cx="5226572" cy="156820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r>
              <a:rPr lang="en-US" sz="1600" b="1" strike="noStrike" spc="-1" dirty="0">
                <a:solidFill>
                  <a:srgbClr val="000000"/>
                </a:solidFill>
                <a:latin typeface="Times New Roman" panose="02020603050405020304"/>
              </a:rPr>
              <a:t>SUBMITTED BY:-</a:t>
            </a:r>
            <a:endParaRPr lang="en-US" sz="1600" b="1" strike="noStrike" spc="-1" dirty="0">
              <a:solidFill>
                <a:srgbClr val="000000"/>
              </a:solidFill>
              <a:latin typeface="Times New Roman" panose="02020603050405020304"/>
            </a:endParaRPr>
          </a:p>
          <a:p>
            <a:endParaRPr lang="en-US" sz="1600" b="1" spc="-1" dirty="0">
              <a:solidFill>
                <a:srgbClr val="000000"/>
              </a:solidFill>
              <a:latin typeface="Times New Roman" panose="02020603050405020304"/>
            </a:endParaRPr>
          </a:p>
          <a:p>
            <a:endParaRPr lang="en-US" sz="1600" b="1" spc="-1" dirty="0">
              <a:solidFill>
                <a:srgbClr val="000000"/>
              </a:solidFill>
              <a:latin typeface="Times New Roman" panose="02020603050405020304"/>
            </a:endParaRPr>
          </a:p>
          <a:p>
            <a:endParaRPr lang="en-US" sz="1600" b="1" spc="-1" dirty="0">
              <a:solidFill>
                <a:srgbClr val="000000"/>
              </a:solidFill>
              <a:latin typeface="Times New Roman" panose="02020603050405020304"/>
            </a:endParaRPr>
          </a:p>
          <a:p>
            <a:endParaRPr lang="en-US" sz="1600" b="1" spc="-1" dirty="0">
              <a:solidFill>
                <a:srgbClr val="000000"/>
              </a:solidFill>
              <a:latin typeface="Times New Roman" panose="02020603050405020304"/>
            </a:endParaRPr>
          </a:p>
          <a:p>
            <a:endParaRPr lang="en-US" sz="1600" b="1" spc="-1" dirty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10667999" y="150471"/>
            <a:ext cx="1381248" cy="6829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43" name="Picture 7" descr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28" y="126108"/>
            <a:ext cx="876171" cy="149167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016" y="143687"/>
            <a:ext cx="4564229" cy="1474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5" name="TextBox 1"/>
          <p:cNvSpPr txBox="1"/>
          <p:nvPr/>
        </p:nvSpPr>
        <p:spPr>
          <a:xfrm>
            <a:off x="2791096" y="1818795"/>
            <a:ext cx="6609807" cy="92333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5400"/>
            </a:lvl1pPr>
          </a:lstStyle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3"/>
          <p:cNvSpPr txBox="1"/>
          <p:nvPr/>
        </p:nvSpPr>
        <p:spPr>
          <a:xfrm>
            <a:off x="902265" y="2817055"/>
            <a:ext cx="10591743" cy="107721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3200" b="1"/>
            </a:lvl1pPr>
          </a:lstStyle>
          <a:p>
            <a:r>
              <a:rPr lang="en-US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MEETING SUMMARIZER</a:t>
            </a:r>
            <a:endParaRPr lang="en-US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11"/>
          <p:cNvSpPr txBox="1"/>
          <p:nvPr/>
        </p:nvSpPr>
        <p:spPr>
          <a:xfrm>
            <a:off x="8523514" y="4797181"/>
            <a:ext cx="3092266" cy="1200329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r>
              <a:rPr lang="en-US" sz="1800" i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 of</a:t>
            </a:r>
            <a:r>
              <a:rPr lang="en-US" sz="180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US" sz="18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Pavinder</a:t>
            </a:r>
            <a:endParaRPr lang="en-US" sz="1800" b="1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b="1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Cluster(SOCS)</a:t>
            </a:r>
            <a:endParaRPr lang="en-US" sz="1800" b="0" strike="noStrike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8" name="Table 1"/>
          <p:cNvGraphicFramePr/>
          <p:nvPr/>
        </p:nvGraphicFramePr>
        <p:xfrm>
          <a:off x="645457" y="4778211"/>
          <a:ext cx="4575768" cy="1568208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1899424"/>
                <a:gridCol w="1088255"/>
                <a:gridCol w="1588089"/>
              </a:tblGrid>
              <a:tr h="392052"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</a:t>
                      </a:r>
                      <a:endParaRPr sz="16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sz="1600" b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SAP ID</a:t>
                      </a:r>
                      <a:endParaRPr sz="1600" b="1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sz="16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Roll. No.</a:t>
                      </a:r>
                      <a:endParaRPr sz="16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</a:tr>
              <a:tr h="392052"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Anshi Mehta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500101</a:t>
                      </a: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953</a:t>
                      </a:r>
                      <a:r>
                        <a:rPr lang="en-IN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R214222</a:t>
                      </a: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0034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</a:tr>
              <a:tr h="392052"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lang="en-IN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Rishika Raj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500101763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lang="en-IN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R2142220279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</a:tr>
              <a:tr h="392052"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lang="en-IN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Dhananjay </a:t>
                      </a:r>
                      <a:r>
                        <a:rPr lang="en-IN" sz="1600" dirty="0" err="1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Baliyan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lang="en-US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500106345</a:t>
                      </a:r>
                      <a:endParaRPr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  <a:tc>
                  <a:txBody>
                    <a:bodyPr/>
                    <a:lstStyle/>
                    <a:p>
                      <a:pPr algn="just" defTabSz="457200">
                        <a:defRPr sz="1800"/>
                      </a:pPr>
                      <a:r>
                        <a:rPr lang="en-IN" sz="16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R2142220915</a:t>
                      </a:r>
                      <a:endParaRPr lang="en-IN" sz="16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12700" marR="12700" marT="12700" marB="12700" horzOverflow="overflow"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 txBox="1"/>
          <p:nvPr/>
        </p:nvSpPr>
        <p:spPr>
          <a:xfrm>
            <a:off x="385677" y="276685"/>
            <a:ext cx="7438923" cy="5847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2"/>
          <p:cNvSpPr txBox="1"/>
          <p:nvPr/>
        </p:nvSpPr>
        <p:spPr>
          <a:xfrm>
            <a:off x="973124" y="1335466"/>
            <a:ext cx="4558938" cy="45807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457200" indent="-457200" algn="just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53391" y="792237"/>
            <a:ext cx="5237017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Literature Review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Requirements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Architecture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Features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Tools and Technologies Used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Methodology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SWOT Analysis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Quantitative Results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Future Scope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Abstract"/>
          <p:cNvSpPr txBox="1"/>
          <p:nvPr/>
        </p:nvSpPr>
        <p:spPr>
          <a:xfrm>
            <a:off x="333415" y="386524"/>
            <a:ext cx="1619993" cy="58477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• While there are numerous tools available to aid…"/>
          <p:cNvSpPr txBox="1"/>
          <p:nvPr/>
        </p:nvSpPr>
        <p:spPr>
          <a:xfrm>
            <a:off x="821055" y="1892300"/>
            <a:ext cx="10119360" cy="375285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noAutofit/>
          </a:bodyPr>
          <a:lstStyle/>
          <a:p>
            <a:pPr marL="342900" indent="-342900" algn="l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Privacy Firs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285750" indent="-285750" algn="l" defTabSz="12700">
              <a:buFont typeface="Wingdings" panose="05000000000000000000" charset="0"/>
              <a:buChar char="Ø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Ensures 100% data confidentiality by processing audio entirely on the user's local machine.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 defTabSz="12700">
              <a:buFont typeface="Wingdings" panose="05000000000000000000" charset="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457200" algn="l" defTabSz="12700">
              <a:buFont typeface="Arial" panose="020B0604020202020204" pitchFamily="34" charset="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285750" indent="-285750" algn="l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Solution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l" defTabSz="12700">
              <a:buFont typeface="Wingdings" panose="05000000000000000000" charset="0"/>
              <a:buChar char="Ø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Input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: Raw Audio Files.</a:t>
            </a:r>
            <a:endParaRPr kumimoji="0" lang="en-US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342900" indent="-342900" algn="l" defTabSz="12700">
              <a:buFont typeface="Wingdings" panose="05000000000000000000" charset="0"/>
              <a:buChar char="Ø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: Whisper.cpp (STT) + Ollama (LLM).</a:t>
            </a:r>
            <a:endParaRPr kumimoji="0" lang="en-US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342900" indent="-342900" algn="l" defTabSz="12700">
              <a:buFont typeface="Wingdings" panose="05000000000000000000" charset="0"/>
              <a:buChar char="Ø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Output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: Concise, diarized summaries.</a:t>
            </a:r>
            <a:endParaRPr kumimoji="0" lang="en-US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342900" indent="-342900" algn="l" defTabSz="12700">
              <a:buFont typeface="Wingdings" panose="05000000000000000000" charset="0"/>
              <a:buChar char="Ø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: Simple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Gradio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 Web UI.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 defTabSz="12700">
              <a:buFont typeface="Arial" panose="020B0604020202020204" pitchFamily="34" charset="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sz="2000" b="1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7438924" cy="5847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8891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br/>
          </a:p>
        </p:txBody>
      </p:sp>
      <p:sp>
        <p:nvSpPr>
          <p:cNvPr id="58" name="1.1 Purpose:…"/>
          <p:cNvSpPr txBox="1"/>
          <p:nvPr/>
        </p:nvSpPr>
        <p:spPr>
          <a:xfrm>
            <a:off x="781050" y="1706880"/>
            <a:ext cx="10481945" cy="356933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Context</a:t>
            </a: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Corporate meetings consume massive amounts of time. Manual note-taking is prone to human error, bias,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 loss of critical detail.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Innovation</a:t>
            </a: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leverage Open Source AI to bring enterprise-grade summarization to consumer hardware. No cloud subscriptions, no data leaks, just efficient insights.</a:t>
            </a:r>
            <a:endParaRPr kumimoji="0" lang="en-US" i="0" u="sng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7438924" cy="5847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050" y="1262380"/>
            <a:ext cx="10622915" cy="5159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Privacy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Cloud tools (Otter.ai, Zoom AI) store transcripts externally, risking confidential data leaks.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kumimoji="0" lang="en-US" sz="2000" b="0" i="0" u="sng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Inefficiency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Re-listening to hour-long recordings to find one decision is a waste of resources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kumimoji="0" lang="en-IN" altLang="en-US" sz="1800" b="0" i="0" u="sng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Dependency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Most AI tools require high-speed internet. No offline option exists for field work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IN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kumimoji="0" lang="en-IN" altLang="en-US" sz="1800" b="0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kumimoji="0" lang="en-US" sz="1800" b="0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>
              <a:buFont typeface="Arial" panose="020B0604020202020204" pitchFamily="34" charset="0"/>
            </a:pPr>
            <a:endParaRPr kumimoji="0" lang="en-US" sz="1800" b="0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IN" altLang="en-US" sz="2000" b="1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Our FIX: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fully offline, local pipeline that solves all three issues simultaneously.</a:t>
            </a:r>
            <a:endParaRPr kumimoji="0" lang="en-US" sz="2000" b="1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>
              <a:buFont typeface="Arial" panose="020B0604020202020204" pitchFamily="34" charset="0"/>
            </a:pPr>
            <a:r>
              <a:rPr kumimoji="0" lang="en-IN" altLang="en-US" sz="2000" b="0" i="0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 panose="020F0502020204030204"/>
              </a:rPr>
              <a:t> </a:t>
            </a:r>
            <a:endParaRPr kumimoji="0" lang="en-US" sz="2000" b="0" i="0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  <a:p>
            <a:pPr>
              <a:buFont typeface="Arial" panose="020B0604020202020204" pitchFamily="34" charset="0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1.1 Purpose:…"/>
          <p:cNvSpPr txBox="1"/>
          <p:nvPr/>
        </p:nvSpPr>
        <p:spPr>
          <a:xfrm>
            <a:off x="1289500" y="1706837"/>
            <a:ext cx="9973380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dirty="0"/>
          </a:p>
        </p:txBody>
      </p:sp>
      <p:sp>
        <p:nvSpPr>
          <p:cNvPr id="4" name="Rectangles 3"/>
          <p:cNvSpPr/>
          <p:nvPr/>
        </p:nvSpPr>
        <p:spPr>
          <a:xfrm>
            <a:off x="617855" y="4081145"/>
            <a:ext cx="10648315" cy="14465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GB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877017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050" y="1944370"/>
            <a:ext cx="10622915" cy="435546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Local Architecture: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Build a Python pipeline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FFmpeg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Whisper,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Ollama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 Fidelity STT: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Convert audio to text with &lt;10% Word Error Rate.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Interface: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 an intuitive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Gradio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dashboard.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7438924" cy="5847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8891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br/>
          </a:p>
        </p:txBody>
      </p:sp>
      <p:sp>
        <p:nvSpPr>
          <p:cNvPr id="58" name="1.1 Purpose:…"/>
          <p:cNvSpPr txBox="1"/>
          <p:nvPr/>
        </p:nvSpPr>
        <p:spPr>
          <a:xfrm>
            <a:off x="1123246" y="1354281"/>
            <a:ext cx="9973380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dirty="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828800" y="1122045"/>
          <a:ext cx="8531225" cy="4650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6711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Author &amp; Year</a:t>
                      </a:r>
                      <a:endParaRPr lang="en-US" alt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Title</a:t>
                      </a:r>
                      <a:endParaRPr lang="en-US" alt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Methods Used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 alt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Strengths</a:t>
                      </a:r>
                      <a:endParaRPr 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 alt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Limitations</a:t>
                      </a:r>
                      <a:endParaRPr lang="en-US" altLang="en-US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/>
                </a:tc>
              </a:tr>
              <a:tr h="13258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Sadia, B., Adeeba, F., Shams, S., &amp; Javed, K.(2024)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Meeting the challenge: A benchmark corpus for automated Urdu meeting summarization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Creation of benchmark corpus, NLP techniques for Urdu, evalution with summarization models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first Urdu specific meeting summarization dataset; supports future research in low-resource languages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Urdu; corpus may not generalize well across other languages/domains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32588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Brahmachari, K.S., Hanumesh, M., Anitha, G., &amp; Pattanaik, B.(2024)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Meeting Insights: NLP-Enhanced Summarization of Voice and Text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Speech-to-text conversion, NLP summarization models, evalution on voice+text data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multimodal input(voice&amp;text):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practical meeting summarization application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force errors due to speech recognition accuracy; scalabilty across diverse accents not tested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32778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Vadlamudi, G., Vemuru, N., Vangapalli, S., Surapaneni, R.K., &amp; Nimmagadda, S. (2022)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Meeting summarizer using Natural Languafe Processing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pipeline for extracting key points from transcripts, summarization algorithms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early integration of NLP for meetings; relatively simple and easy to implement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advanced evalution; focuses only on text transcripts (no multimodal input)</a:t>
                      </a:r>
                      <a:endParaRPr lang="en-IN" altLang="en-GB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877017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8891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br/>
          </a:p>
        </p:txBody>
      </p:sp>
      <p:sp>
        <p:nvSpPr>
          <p:cNvPr id="58" name="1.1 Purpose:…"/>
          <p:cNvSpPr txBox="1"/>
          <p:nvPr/>
        </p:nvSpPr>
        <p:spPr>
          <a:xfrm>
            <a:off x="1430779" y="1706837"/>
            <a:ext cx="9973380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lvl="2" indent="0" algn="just"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dirty="0"/>
          </a:p>
        </p:txBody>
      </p:sp>
      <p:graphicFrame>
        <p:nvGraphicFramePr>
          <p:cNvPr id="3" name="Table 2"/>
          <p:cNvGraphicFramePr/>
          <p:nvPr/>
        </p:nvGraphicFramePr>
        <p:xfrm>
          <a:off x="1828800" y="2476500"/>
          <a:ext cx="8533765" cy="190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altLang="en-GB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IN" alt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  <a:endParaRPr lang="en-IN" altLang="en-GB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</a:t>
                      </a:r>
                      <a:endParaRPr lang="en-IN" alt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Windows/Linux/macOS</a:t>
                      </a:r>
                      <a:endParaRPr lang="en-IN" alt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</a:t>
                      </a:r>
                      <a:endParaRPr lang="en-IN" alt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 8GB(16GB Recommended)</a:t>
                      </a:r>
                      <a:endParaRPr lang="en-IN" alt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  <a:endParaRPr lang="en-IN" alt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Core (AVX Support)</a:t>
                      </a:r>
                      <a:endParaRPr lang="en-IN" altLang="en-GB" sz="18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en-IN" alt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IN" altLang="en-GB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50GB (Model Weights)</a:t>
                      </a:r>
                      <a:endParaRPr lang="en-IN" altLang="en-GB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877017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8891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br/>
          </a:p>
        </p:txBody>
      </p:sp>
      <p:sp>
        <p:nvSpPr>
          <p:cNvPr id="58" name="1.1 Purpose:…"/>
          <p:cNvSpPr txBox="1"/>
          <p:nvPr/>
        </p:nvSpPr>
        <p:spPr>
          <a:xfrm>
            <a:off x="1430779" y="1706837"/>
            <a:ext cx="9973380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342900" lvl="2" indent="-342900" algn="just"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68322" y="2076169"/>
            <a:ext cx="10201976" cy="255519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pic>
        <p:nvPicPr>
          <p:cNvPr id="8" name="Picture 7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798" y="2520736"/>
            <a:ext cx="7594192" cy="184860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877017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050" y="1953260"/>
            <a:ext cx="10622915" cy="385191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Speaker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Diarization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Label speakers (e.g., [Speaker 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0/Speaker 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]) to track contributions.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Format Standardization: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Auto-convert inputs to 16kHz WAV.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Optimization: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Ensure smooth performance on 8GB RAM systems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1.1 Purpose:…"/>
          <p:cNvSpPr txBox="1"/>
          <p:nvPr/>
        </p:nvSpPr>
        <p:spPr>
          <a:xfrm>
            <a:off x="781214" y="861487"/>
            <a:ext cx="10549440" cy="45653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just">
              <a:lnSpc>
                <a:spcPct val="150000"/>
              </a:lnSpc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b="1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7438924" cy="5847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8891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br/>
          </a:p>
        </p:txBody>
      </p:sp>
      <p:sp>
        <p:nvSpPr>
          <p:cNvPr id="58" name="1.1 Purpose:…"/>
          <p:cNvSpPr txBox="1"/>
          <p:nvPr/>
        </p:nvSpPr>
        <p:spPr>
          <a:xfrm>
            <a:off x="1289500" y="1706837"/>
            <a:ext cx="9973380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099044" y="4307964"/>
            <a:ext cx="2784764" cy="201583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86202" y="4307964"/>
            <a:ext cx="2784764" cy="2015836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86202" y="1542118"/>
            <a:ext cx="2784764" cy="201583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21035" y="1542118"/>
            <a:ext cx="2784764" cy="2015836"/>
          </a:xfrm>
          <a:prstGeom prst="rect">
            <a:avLst/>
          </a:prstGeom>
          <a:solidFill>
            <a:schemeClr val="bg1">
              <a:lumMod val="65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>
            <a:glow rad="228600">
              <a:schemeClr val="accent4">
                <a:satMod val="175000"/>
                <a:alpha val="40000"/>
              </a:schemeClr>
            </a:glow>
            <a:reflection blurRad="6350" stA="50000" endA="275" endPos="40000" dist="101600" dir="5400000" sy="-100000" algn="bl" rotWithShape="0"/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pic>
        <p:nvPicPr>
          <p:cNvPr id="14" name="Picture 13" descr="A black and white logo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833" y="1867804"/>
            <a:ext cx="2391168" cy="1456335"/>
          </a:xfrm>
          <a:prstGeom prst="rect">
            <a:avLst/>
          </a:prstGeom>
        </p:spPr>
      </p:pic>
      <p:pic>
        <p:nvPicPr>
          <p:cNvPr id="16" name="Picture 15" descr="A black and white logo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973" y="1867804"/>
            <a:ext cx="2399193" cy="1456335"/>
          </a:xfrm>
          <a:prstGeom prst="rect">
            <a:avLst/>
          </a:prstGeom>
        </p:spPr>
      </p:pic>
      <p:pic>
        <p:nvPicPr>
          <p:cNvPr id="18" name="Picture 17" descr="A black text and a white background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728" y="4546955"/>
            <a:ext cx="2367395" cy="1537854"/>
          </a:xfrm>
          <a:prstGeom prst="rect">
            <a:avLst/>
          </a:prstGeom>
        </p:spPr>
      </p:pic>
      <p:pic>
        <p:nvPicPr>
          <p:cNvPr id="20" name="Picture 19" descr="A black and white logo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972" y="4546955"/>
            <a:ext cx="2399193" cy="15378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877017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52006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Pre-processing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Raw audio (mp3, m4a) is ingested via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Gradio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 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FFmpeg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normalizes it to Mono PCM WAV at 16kHz for optimal model compatibility.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Transcription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Whisper.cpp processes the WAV file locally. It performs beam search decoding to generate a time-stamped text transcript.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Diarization</a:t>
            </a:r>
            <a:endParaRPr lang="en-US" sz="2000" b="1" dirty="0" err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distinguishes speaker turns based on audio clustering, inserting [Speaker X] tags into the text stream for context.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Summarization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buFont typeface="Arial" panose="020B0604020202020204" pitchFamily="34" charset="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text is fed into a local LLM (via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 with a system prompt: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"Extract key decisions and action items."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7438924" cy="5847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Class Diagram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8891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b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895" y="863639"/>
            <a:ext cx="11648210" cy="59436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7438924" cy="5847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31373" y="1189078"/>
            <a:ext cx="3667990" cy="258532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Privacy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100% local processing (No Cloud).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Zero operational cost after initial setup.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Capability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Fully functional without internet.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cap="all" dirty="0"/>
          </a:p>
        </p:txBody>
      </p:sp>
      <p:sp>
        <p:nvSpPr>
          <p:cNvPr id="6" name="Rectangle 5"/>
          <p:cNvSpPr/>
          <p:nvPr/>
        </p:nvSpPr>
        <p:spPr>
          <a:xfrm>
            <a:off x="1631373" y="4337346"/>
            <a:ext cx="3667990" cy="203132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Niche Market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Targets regulated industries (Legal, Medical).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Integrate with local desktop recording tools.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cap="all" dirty="0"/>
          </a:p>
        </p:txBody>
      </p:sp>
      <p:sp>
        <p:nvSpPr>
          <p:cNvPr id="7" name="Rectangle 6"/>
          <p:cNvSpPr/>
          <p:nvPr/>
        </p:nvSpPr>
        <p:spPr>
          <a:xfrm>
            <a:off x="6490857" y="4614343"/>
            <a:ext cx="3667990" cy="147732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</a:t>
            </a:r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Competition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Major platforms adding local processing layers.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90857" y="1189077"/>
            <a:ext cx="3667990" cy="258532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r>
              <a:rPr lang="en-US" b="1" u="sng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Dependency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Requires minimum 8GB RAM, 4-core CPU.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Barrier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Slower than cloud APIs on low-end CPUs.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Maintenance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Manual updating of local LLM models.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cap="all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877017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Quantitative Results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214" y="1262270"/>
            <a:ext cx="10622945" cy="88913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br/>
          </a:p>
        </p:txBody>
      </p:sp>
      <p:sp>
        <p:nvSpPr>
          <p:cNvPr id="58" name="1.1 Purpose:…"/>
          <p:cNvSpPr txBox="1"/>
          <p:nvPr/>
        </p:nvSpPr>
        <p:spPr>
          <a:xfrm>
            <a:off x="1106170" y="2072640"/>
            <a:ext cx="9973310" cy="256413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Performance</a:t>
            </a: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>
              <a:buFont typeface="Arial" panose="020B0604020202020204" pitchFamily="34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buFont typeface="Wingdings" panose="05000000000000000000" charset="0"/>
              <a:buChar char="Ø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WER (Error Rate):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~7.1% (Low)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 algn="just">
              <a:buFont typeface="Wingdings" panose="05000000000000000000" charset="0"/>
              <a:buChar char="Ø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Processing Speed: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~1.3x Real-time on CPU.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Summary Quality: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 ROUGE-L Score of 0.42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charset="0"/>
              <a:buChar char="Ø"/>
              <a:defRPr>
                <a:latin typeface="+mn-lt"/>
                <a:ea typeface="+mn-ea"/>
                <a:cs typeface="+mn-cs"/>
                <a:sym typeface="Helvetica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92%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Information Retention Rate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charset="0"/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 txBox="1"/>
          <p:nvPr/>
        </p:nvSpPr>
        <p:spPr>
          <a:xfrm>
            <a:off x="385701" y="278864"/>
            <a:ext cx="8770174" cy="5847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Future Scope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4"/>
          <p:cNvSpPr txBox="1"/>
          <p:nvPr/>
        </p:nvSpPr>
        <p:spPr>
          <a:xfrm>
            <a:off x="781050" y="1975485"/>
            <a:ext cx="10622915" cy="38100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>
              <a:defRPr sz="2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Real-Time Transcription: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Integrate live audio processing to summarize meetings as they take place.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Advanced NLP: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Automatically extract key decisions, action items, and keywords from the transcript.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Cloud Deployment: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Create a scalable, multi-user version of the application.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User Authentication: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</a:rPr>
              <a:t>Add user accounts to save and manage a history of meeting summaries.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altLang="en-US" sz="2000" b="1" dirty="0">
              <a:latin typeface="Times New Roman" panose="02020603050405020304" pitchFamily="18" charset="0"/>
              <a:cs typeface="Times New Roman" panose="02020603050405020304" pitchFamily="18" charset="0"/>
              <a:sym typeface="Helvetica"/>
            </a:endParaRPr>
          </a:p>
        </p:txBody>
      </p:sp>
      <p:sp>
        <p:nvSpPr>
          <p:cNvPr id="58" name="1.1 Purpose:…"/>
          <p:cNvSpPr txBox="1"/>
          <p:nvPr/>
        </p:nvSpPr>
        <p:spPr>
          <a:xfrm>
            <a:off x="1105996" y="1974759"/>
            <a:ext cx="9973380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just">
              <a:defRPr>
                <a:latin typeface="+mn-lt"/>
                <a:ea typeface="+mn-ea"/>
                <a:cs typeface="+mn-cs"/>
                <a:sym typeface="Helvetica"/>
              </a:defRPr>
            </a:pPr>
            <a:endParaRPr lang="en-US" dirty="0"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1941014" y="3601496"/>
            <a:ext cx="8309973" cy="120032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7200" b="1">
                <a:solidFill>
                  <a:srgbClr val="46B0F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10667999" y="150471"/>
            <a:ext cx="1381248" cy="68290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879" y="1709986"/>
            <a:ext cx="4206242" cy="180685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TABLE_ENDDRAG_ORIGIN_RECT" val="671*415"/>
  <p:tag name="TABLE_ENDDRAG_RECT" val="144*88*671*415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5015</Words>
  <Application>WPS Presentation</Application>
  <PresentationFormat>Widescreen</PresentationFormat>
  <Paragraphs>279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Calibri Light</vt:lpstr>
      <vt:lpstr>Arial</vt:lpstr>
      <vt:lpstr>Times New Roman</vt:lpstr>
      <vt:lpstr>Times New Roman</vt:lpstr>
      <vt:lpstr>Helvetica</vt:lpstr>
      <vt:lpstr>Microsoft YaHei</vt:lpstr>
      <vt:lpstr>Arial Unicode MS</vt:lpstr>
      <vt:lpstr>Helvetica</vt:lpstr>
      <vt:lpstr>Wingdings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Anshi Mehta</dc:creator>
  <cp:lastModifiedBy>Dhananjay Baliyan</cp:lastModifiedBy>
  <cp:revision>55</cp:revision>
  <dcterms:created xsi:type="dcterms:W3CDTF">2025-12-07T17:35:09Z</dcterms:created>
  <dcterms:modified xsi:type="dcterms:W3CDTF">2025-12-07T19:18:00Z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22D994255388492A83F532EEBF8DB019_12</vt:lpwstr>
  </property>
  <property fmtid="{D5CDD505-2E9C-101B-9397-08002B2CF9AE}" pid="3" name="KSOProductBuildVer">
    <vt:lpwstr>2057-12.2.0.23158</vt:lpwstr>
  </property>
</Properties>
</file>